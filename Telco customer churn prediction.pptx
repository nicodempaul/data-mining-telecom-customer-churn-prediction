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B302-8913-4A08-ABD2-8CAF74D89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16407F-D411-4108-BEC3-6174DE6BB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E8708-A2A9-4C07-910A-B8EA32964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BB44D-2F59-4D1C-8295-3DF0FB8DC522}" type="datetimeFigureOut">
              <a:rPr lang="en-UG" smtClean="0"/>
              <a:t>15/12/2025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94CDC-E843-4976-93B7-8B131B058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BAC6F-622F-4BC4-9332-8FFF47B8B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54575-34C4-44DE-91D2-10DD8F56E3D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7388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FCA9-719C-4E94-8051-8A9CBE3F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179BF-C9DA-42CF-B48C-433B23FDD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F9075-96EB-49D4-80E8-30D5A8B47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BB44D-2F59-4D1C-8295-3DF0FB8DC522}" type="datetimeFigureOut">
              <a:rPr lang="en-UG" smtClean="0"/>
              <a:t>15/12/2025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5DB3B-71D5-4417-BFFE-FFAB10CA6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E7CE0-2B06-4D04-8433-209FE8B7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54575-34C4-44DE-91D2-10DD8F56E3D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77944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86F1A-B1B0-434E-AC8D-442BB7CC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48341-0E5E-4955-B73D-82AC5FCBE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4B367-93CC-4CCB-AE6D-49C6CF68B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BB44D-2F59-4D1C-8295-3DF0FB8DC522}" type="datetimeFigureOut">
              <a:rPr lang="en-UG" smtClean="0"/>
              <a:t>15/12/2025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31824-90F5-4C03-96B8-2AC01965F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870FE-A420-49B2-86F2-77CD14BDF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54575-34C4-44DE-91D2-10DD8F56E3D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904452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28342-EEB7-4B86-9948-A437CC43B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A1ECC-15CC-4570-9D40-8B09A8F4C2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99378-76D3-4E67-89DE-43A7D0328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4D1A5-2839-4EDC-AF88-5E30023C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BB44D-2F59-4D1C-8295-3DF0FB8DC522}" type="datetimeFigureOut">
              <a:rPr lang="en-UG" smtClean="0"/>
              <a:t>15/12/2025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0FC5F-5ED2-4863-8BDC-A954EBF7D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63E25-FED6-43E3-92F8-044C8B68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54575-34C4-44DE-91D2-10DD8F56E3D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129696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F274-6267-4F73-B5C4-F551C0731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1ED56-63E0-460A-B10C-88A8CD237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7D12C-2CF9-44D8-8999-72C8DC1F6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D890B-67BC-47D1-9579-F5286612B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2481B-82AC-4FCA-AFD6-6572553D8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C1F542-5E3E-47F8-A932-D116276BA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BB44D-2F59-4D1C-8295-3DF0FB8DC522}" type="datetimeFigureOut">
              <a:rPr lang="en-UG" smtClean="0"/>
              <a:t>15/12/2025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367B62-863F-4CA2-8F8A-38037CC6C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CE1D21-C690-4AE6-B391-B3311991F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54575-34C4-44DE-91D2-10DD8F56E3D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523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BB520-DE87-4F4F-9D7B-8244AE2C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38E3D-60A0-4407-8FAE-7BDC3B5C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BB44D-2F59-4D1C-8295-3DF0FB8DC522}" type="datetimeFigureOut">
              <a:rPr lang="en-UG" smtClean="0"/>
              <a:t>15/12/2025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1FEE2-3B8C-410E-AC88-595417CE6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CFE57-2017-4168-9126-4C810A616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54575-34C4-44DE-91D2-10DD8F56E3D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719714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90B511-8FC8-48C4-A043-5212EB34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BB44D-2F59-4D1C-8295-3DF0FB8DC522}" type="datetimeFigureOut">
              <a:rPr lang="en-UG" smtClean="0"/>
              <a:t>15/12/2025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90B43-AF26-4933-89AC-5DDEF5B7B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64AFE-8FCC-4890-B87D-4AFE615D9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54575-34C4-44DE-91D2-10DD8F56E3D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58087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C9D6-2A61-41AC-85A2-DA2FD2551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6CB38-759A-428A-AFDF-EA5340F69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E5A9F5-4CE5-4B2D-BFCD-D8C331290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44ABB-15C9-4CFB-80CA-60E5D4B46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BB44D-2F59-4D1C-8295-3DF0FB8DC522}" type="datetimeFigureOut">
              <a:rPr lang="en-UG" smtClean="0"/>
              <a:t>15/12/2025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5AD7B-6258-40FC-9A65-445C34EA3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9AD96-7B54-4894-BA82-7C332DEB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54575-34C4-44DE-91D2-10DD8F56E3D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569736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2C0DF-87E0-415C-9378-67EB846FE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B3B17-C40E-4D67-B323-154EA2E982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A9484C-092E-443E-9AEC-6D2F24FD4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10771-132B-42D8-923B-E3FC4417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BB44D-2F59-4D1C-8295-3DF0FB8DC522}" type="datetimeFigureOut">
              <a:rPr lang="en-UG" smtClean="0"/>
              <a:t>15/12/2025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7EDCD-FDC6-41C2-B085-BE752873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8C137-2866-47EE-82B7-29EFC945D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54575-34C4-44DE-91D2-10DD8F56E3D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960868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5FD90-1198-4D31-93F2-650E7C82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8889A6-C827-46E9-BDEC-29EC127E0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5A6C0-468A-41CF-BE58-51B721341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BB44D-2F59-4D1C-8295-3DF0FB8DC522}" type="datetimeFigureOut">
              <a:rPr lang="en-UG" smtClean="0"/>
              <a:t>15/12/2025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7412F-F7F8-43A4-A86A-C10173215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D6995-FAE5-4783-AAD8-FD86F4FA9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54575-34C4-44DE-91D2-10DD8F56E3D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615597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8E7978-C832-4C65-94CA-2665476F3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F7A73-85AA-4C13-96DE-7953DC7FE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57589-BCF7-4539-81C0-1942C088C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BB44D-2F59-4D1C-8295-3DF0FB8DC522}" type="datetimeFigureOut">
              <a:rPr lang="en-UG" smtClean="0"/>
              <a:t>15/12/2025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7158B-DD86-4284-9248-6D5E84E1E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624D3-8389-4612-B010-B5AFFF8D9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54575-34C4-44DE-91D2-10DD8F56E3D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82750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32A4B7-CB0B-43DA-9F47-72D621770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8F703-510B-4943-ACFD-783572806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33C70-9367-4ED0-845F-7511DFF0E1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BB44D-2F59-4D1C-8295-3DF0FB8DC522}" type="datetimeFigureOut">
              <a:rPr lang="en-UG" smtClean="0"/>
              <a:t>15/12/2025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C4062-0DE8-47A0-BC2B-E7D188817B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BEDB4-C986-45BE-A322-C93F46DFA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054575-34C4-44DE-91D2-10DD8F56E3DF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636078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229B7-98D2-422A-B903-1A73E4CB7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TELECOM CUSTOMER CHURN PREDICTION</a:t>
            </a:r>
            <a:endParaRPr lang="en-UG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2466AD-B4D9-450F-B032-3C72917261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cs typeface="Times New Roman" panose="02020603050405020304" pitchFamily="18" charset="0"/>
              </a:rPr>
              <a:t>NSUBUGA NICHOLAS PAUL	 2023-B071-22173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4092723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A7A76-FD77-40C6-9E70-834C36F8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Telco Customer Churn Prediction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BC3B9-D1FD-4F77-B868-3A43483DB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Data Loading &amp; Preprocessing: </a:t>
            </a:r>
            <a:r>
              <a:rPr lang="en-US" dirty="0"/>
              <a:t>The Telco Customer Churn dataset (7,043 records, 21 attributes) was loaded using Python Pandas. Data inspection revealed mixed categorical and numerical variables. Missing values in </a:t>
            </a:r>
            <a:r>
              <a:rPr lang="en-US" dirty="0" err="1"/>
              <a:t>TotalCharges</a:t>
            </a:r>
            <a:r>
              <a:rPr lang="en-US" dirty="0"/>
              <a:t> were handled by converting the column to numeric and replacing missing values with the median. Categorical variables were encoded using One-Hot Encoding, numerical variables standardized using </a:t>
            </a:r>
            <a:r>
              <a:rPr lang="en-US" dirty="0" err="1"/>
              <a:t>StandardScaler</a:t>
            </a:r>
            <a:r>
              <a:rPr lang="en-US" dirty="0"/>
              <a:t>, and the churn variable converted into a binary label (0 = No, 1 = Yes). </a:t>
            </a:r>
          </a:p>
          <a:p>
            <a:r>
              <a:rPr lang="en-US" b="1" dirty="0"/>
              <a:t>Exploratory Data Analysis: </a:t>
            </a:r>
            <a:r>
              <a:rPr lang="en-US" dirty="0"/>
              <a:t>Exploratory analysis showed that most churn occurs among customers with short tenure and higher monthly charges. Month-to-month contract customers exhibited significantly higher churn rates compared to one-year and two-year contracts. Correlation analysis revealed a negative relationship between tenure and churn, and a positive relationship between monthly charges and churn. </a:t>
            </a:r>
          </a:p>
          <a:p>
            <a:r>
              <a:rPr lang="en-US" b="1" dirty="0"/>
              <a:t>Modelling &amp; Evaluation: </a:t>
            </a:r>
            <a:r>
              <a:rPr lang="en-US" dirty="0"/>
              <a:t>Two models were trained: Logistic Regression and Random Forest Classifier. Both models were evaluated using accuracy, precision, recall, F1-score, and confusion matrix. The Random Forest model performed better overall, particularly in identifying churners (higher recall). Key churn drivers identified included contract type, tenure, monthly charges, and payment method. </a:t>
            </a:r>
          </a:p>
          <a:p>
            <a:r>
              <a:rPr lang="en-US" b="1" dirty="0"/>
              <a:t>Dashboard &amp; Insights: </a:t>
            </a:r>
            <a:r>
              <a:rPr lang="en-US" dirty="0"/>
              <a:t>Dashboard-style </a:t>
            </a:r>
            <a:r>
              <a:rPr lang="en-US" dirty="0" err="1"/>
              <a:t>visualisations</a:t>
            </a:r>
            <a:r>
              <a:rPr lang="en-US" dirty="0"/>
              <a:t> illustrated churn distribution, churn by contract type, and the relationship between tenure and monthly charges. High-risk customer segments were identified as new customers on month-to-month contracts with high monthly charges. These insights can guide targeted retention strategies for prepaid telecom subscribers.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820979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0EBDD-46DF-491C-950C-3946B560D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TEN ROWS</a:t>
            </a:r>
            <a:endParaRPr lang="en-U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F1B914-D9EB-4C40-BD73-54AF0F646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821" y="1825625"/>
            <a:ext cx="5854358" cy="4351338"/>
          </a:xfrm>
        </p:spPr>
      </p:pic>
    </p:spTree>
    <p:extLst>
      <p:ext uri="{BB962C8B-B14F-4D97-AF65-F5344CB8AC3E}">
        <p14:creationId xmlns:p14="http://schemas.microsoft.com/office/powerpoint/2010/main" val="2143230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F69-9077-42AB-99D5-63544681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 FOR TENURE AND MONTHLY CHARGES</a:t>
            </a:r>
            <a:endParaRPr lang="en-U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24BE49-6563-49EC-B541-4A6F4E1D6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790" y="1924667"/>
            <a:ext cx="5438775" cy="4333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FA524C-172C-4EDA-BF8D-1E9E379D5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10556"/>
            <a:ext cx="552450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019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AC60-A67E-4A82-85C6-81C1A305B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CHART SHOWING CHURN RATE BY CONTRACT TYPE OR REGION</a:t>
            </a:r>
            <a:endParaRPr lang="en-UG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90B5792-F3AA-4B66-96BD-7206898A1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5251" y="1825625"/>
            <a:ext cx="44614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83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36D91-26C5-45B7-B2E5-21D9BC2F2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HEATMAP FOR NUMERICAL FEATURES</a:t>
            </a:r>
            <a:endParaRPr lang="en-U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454A481-7C80-443E-8D2D-2FC2AE4E2C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9571" y="1825625"/>
            <a:ext cx="50928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373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D1C5-C92D-415A-9C2C-0E73564B3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 THE MAJOR FACTORS CONTRIBUTING TO CUSTOMER CHURN, BASED ON YOUR EDA.</a:t>
            </a:r>
            <a:endParaRPr lang="en-U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F7969A-6F65-42F4-82ED-2D6CEF8B40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8512" y="2633247"/>
            <a:ext cx="1083451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behaviour is highly uneven.</a:t>
            </a:r>
            <a:endParaRPr kumimoji="0" lang="en-US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small group contributes disproportionately to revenue.</a:t>
            </a:r>
            <a:endParaRPr kumimoji="0" lang="en-US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G" altLang="en-UG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Recency is a critical factor for engagement and loyalty.</a:t>
            </a:r>
          </a:p>
        </p:txBody>
      </p:sp>
    </p:spTree>
    <p:extLst>
      <p:ext uri="{BB962C8B-B14F-4D97-AF65-F5344CB8AC3E}">
        <p14:creationId xmlns:p14="http://schemas.microsoft.com/office/powerpoint/2010/main" val="4229629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6711-8CBC-4CC6-9D40-1BA02F9CF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EVALUATE LOGISTIC REGRESSION AND RANDOM FOREST CLASSIFIER</a:t>
            </a:r>
            <a:br>
              <a:rPr lang="en-UG" sz="2400" dirty="0"/>
            </a:br>
            <a:endParaRPr lang="en-UG" sz="2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CDEE5B1-F9E9-4121-9B0C-5E1EFE265B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182" y="2391344"/>
            <a:ext cx="2943636" cy="3219899"/>
          </a:xfrm>
        </p:spPr>
      </p:pic>
    </p:spTree>
    <p:extLst>
      <p:ext uri="{BB962C8B-B14F-4D97-AF65-F5344CB8AC3E}">
        <p14:creationId xmlns:p14="http://schemas.microsoft.com/office/powerpoint/2010/main" val="3259216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13B45-16B3-466D-AE82-618ED0E84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IMPORTANT FEATURES INFLUENCING CHURN BASED ON MODEL OUTPUT (coefficients or feature importance). </a:t>
            </a:r>
            <a:endParaRPr lang="en-UG" sz="36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2E8A9D-0F80-4E95-BDDA-7274A5203E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1932" y="1825625"/>
            <a:ext cx="5621868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708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887A-FF98-46EE-B79A-AD5668C99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using POWER BI</a:t>
            </a:r>
            <a:endParaRPr lang="en-UG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29F0767-C75F-4CD5-A6EB-CC5010BE69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612" y="1825625"/>
            <a:ext cx="7438775" cy="4351338"/>
          </a:xfrm>
        </p:spPr>
      </p:pic>
    </p:spTree>
    <p:extLst>
      <p:ext uri="{BB962C8B-B14F-4D97-AF65-F5344CB8AC3E}">
        <p14:creationId xmlns:p14="http://schemas.microsoft.com/office/powerpoint/2010/main" val="1013555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357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TELECOM CUSTOMER CHURN PREDICTION</vt:lpstr>
      <vt:lpstr>Telco Customer Churn Prediction </vt:lpstr>
      <vt:lpstr>FIRST TEN ROWS</vt:lpstr>
      <vt:lpstr>HISTOGRAM FOR TENURE AND MONTHLY CHARGES</vt:lpstr>
      <vt:lpstr>BAR CHART SHOWING CHURN RATE BY CONTRACT TYPE OR REGION</vt:lpstr>
      <vt:lpstr>CORRELATION HEATMAP FOR NUMERICAL FEATURES</vt:lpstr>
      <vt:lpstr>INTERPRET THE MAJOR FACTORS CONTRIBUTING TO CUSTOMER CHURN, BASED ON YOUR EDA.</vt:lpstr>
      <vt:lpstr>EVALUATE LOGISTIC REGRESSION AND RANDOM FOREST CLASSIFIER </vt:lpstr>
      <vt:lpstr>IMPORTANT FEATURES INFLUENCING CHURN BASED ON MODEL OUTPUT (coefficients or feature importance). </vt:lpstr>
      <vt:lpstr>DASHBOARD using POWER BI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9</cp:revision>
  <dcterms:created xsi:type="dcterms:W3CDTF">2025-12-15T09:58:33Z</dcterms:created>
  <dcterms:modified xsi:type="dcterms:W3CDTF">2025-12-15T20:10:38Z</dcterms:modified>
</cp:coreProperties>
</file>